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854" r:id="rId4"/>
    <p:sldId id="270" r:id="rId5"/>
    <p:sldId id="857" r:id="rId6"/>
    <p:sldId id="858" r:id="rId7"/>
    <p:sldId id="860" r:id="rId8"/>
    <p:sldId id="850" r:id="rId9"/>
    <p:sldId id="851" r:id="rId10"/>
    <p:sldId id="861" r:id="rId11"/>
    <p:sldId id="8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5105"/>
    <a:srgbClr val="B02C99"/>
    <a:srgbClr val="F2F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129"/>
    <p:restoredTop sz="88769"/>
  </p:normalViewPr>
  <p:slideViewPr>
    <p:cSldViewPr snapToGrid="0" snapToObjects="1">
      <p:cViewPr>
        <p:scale>
          <a:sx n="90" d="100"/>
          <a:sy n="90" d="100"/>
        </p:scale>
        <p:origin x="-6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9A3D9-6E86-4048-B3C0-52D17E0C12C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1DA4D-E6E1-E249-8BD1-92B218CD9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8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1DA4D-E6E1-E249-8BD1-92B218CD9E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71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6F30-F623-799D-4540-54B79FF2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BD700-9A85-D2BB-6EFD-F4AA9778A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34D75-DB07-D5DE-F68D-BDA0A16C4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E2D0-2853-7BCD-3FA3-EAF064265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9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BE84-6B48-5AD8-3A0E-7201CB3E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37DFC-92B7-F3ED-182B-501854741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92D34-47DD-FA87-6913-84E0015E7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CC95C-3967-00AD-512A-17C667A44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63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04C0-74A5-A9DF-279B-184F54DA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65E01-2C26-52D9-2146-DBBF2DF19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2CCC9-7C57-A0F4-E058-02D41631E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0F293-3BBA-3ABC-ABA2-C6246469C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67C1-B0CC-4146-B590-226E95E41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D08AF-0025-0241-A917-722FF1D95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89967-66B3-024A-B248-FE4F3B70E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F99C3-3D8F-7142-B96D-7205FE01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04AC-BB97-3446-B736-50EBF5C5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4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9C22-3D09-1046-9543-E2E67BC9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B264-C2FF-B44B-8EF7-B13D6AECA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4424-1187-D248-94CD-E7413D8D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27F8-994E-2A46-8C7A-268EDB9F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EA354-7D5B-1849-8819-9B959C25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4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89A-8EA0-E94C-B0E3-CDD2CCE3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F0A93-AFBA-6C46-96F5-90F643387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3C3FA-84AF-1744-A384-461C17AC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DFBAE-0B2F-014A-9EAB-B1B5C2DA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F3D3F-63FF-D848-9206-FF6852AF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9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21C6-C025-BA4E-A9D2-3281F667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5C3B1-6FD9-5846-B628-E91A1B078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A84BC-04B0-8544-925D-10B309CA4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FC66E-5D6F-154A-9280-8016FB9EF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FF7AE-1433-B44B-BF22-E2067B95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60517-FE2B-EA4A-8D12-BD9F248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8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8542-B7F9-464B-905C-3495C36F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AF5C0-D1B3-5742-A978-83207FB46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41850-CD8C-EC46-9E12-E0FEF875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90708-D388-7744-A848-20ACDCB14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F1B14-ADF2-0445-8079-6A61A2D15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6559B-7E16-3442-8BCC-7A4D910F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DC0DA-C9A1-EA4F-8D89-808C53F3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B3C24-15B7-624C-A41F-E059DFDB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3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663C-403A-A54D-9174-CD2E9939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4C24A-DE9B-CC43-BD6F-DEE337B6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4A06F-572F-5641-8525-D5B04CB3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D3F5-4377-A941-A0CC-4B87AC5D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FF4D1-C055-4B4F-AE41-D1A3DC85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69646-0739-1540-97C3-160FA717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66130-8219-6449-8B74-41A96FF8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5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B83A-9984-A64A-BD0F-2DD6A353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532DD-7623-A140-B44B-FA0CEBCB8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CD0E7-E5F0-864B-ACF7-9A1373B92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17AC0-19E4-504B-9788-F56A1F48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5857F-5D23-D04E-AD2E-04229466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957C2-3E80-D84D-B1AE-F23896C8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4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3911-14B7-F741-A9BF-D2377F1A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3C444-20FB-4846-8D1C-7DC6E679B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FF324-1862-434F-A741-DDACF0B23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79B75-5115-BF41-89D1-31872758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041CD-CEA1-504A-8B82-31668E1B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BCC45-67F9-D74D-B17B-2206B4F9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0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28BC-C21B-5944-BA6B-769A5D05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4873B-C250-7B4C-AFB6-32A08E989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1057E-6E55-2D43-9BBE-36906C61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4B2F-29C3-E540-82CA-F8228B67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4463-AB85-6E44-BBBB-4E0579F5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CA7BB-EDEE-8A41-AB3D-7204C48D1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EE96F-0A83-4743-B5C6-4E8D0B130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F9535-95D0-8949-9FAC-C1A40C6A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97BF-AE80-4148-8B51-C3917353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9EEB1-8523-AD46-AB8C-055791A1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9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74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A45C5-2FDC-2A4D-B609-D043A7E4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7F712-922A-0E43-9CA0-04A11C796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8702F-8CB2-9B49-93A5-4BC7D91B4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31783-868A-1D4D-A54A-60687C825093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2FC1F-3776-B446-A51B-0A038459C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E2DF-587D-394B-858F-3D9EB94AB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24D91-4BFB-5644-9327-40A34A780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2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70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alytical Dashboard: Speeding Up The Decision Making - Verve Systems">
            <a:extLst>
              <a:ext uri="{FF2B5EF4-FFF2-40B4-BE49-F238E27FC236}">
                <a16:creationId xmlns:a16="http://schemas.microsoft.com/office/drawing/2014/main" id="{9B46291A-682A-4441-B06B-D0C197A64D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 bwMode="auto"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29" name="Freeform: Shape 72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0" name="Freeform: Shape 74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D5C82-8029-824C-A38F-C69345806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2226769"/>
            <a:ext cx="4023360" cy="3248713"/>
          </a:xfrm>
        </p:spPr>
        <p:txBody>
          <a:bodyPr anchor="b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800" dirty="0"/>
              <a:t>Query Processing in Data Warehouse</a:t>
            </a:r>
            <a:br>
              <a:rPr lang="en-US" sz="3800" dirty="0"/>
            </a:br>
            <a:br>
              <a:rPr lang="en-US" sz="3800" dirty="0"/>
            </a:br>
            <a:r>
              <a:rPr lang="en-US" sz="3800" dirty="0"/>
              <a:t>MCO1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7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Data Warehousing - Overview, Steps, Pros and Cons">
            <a:extLst>
              <a:ext uri="{FF2B5EF4-FFF2-40B4-BE49-F238E27FC236}">
                <a16:creationId xmlns:a16="http://schemas.microsoft.com/office/drawing/2014/main" id="{4CA68B55-6DC1-7848-80A8-97B760449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43467" y="743628"/>
            <a:ext cx="10905066" cy="537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06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nt-Up Arrow 1">
            <a:extLst>
              <a:ext uri="{FF2B5EF4-FFF2-40B4-BE49-F238E27FC236}">
                <a16:creationId xmlns:a16="http://schemas.microsoft.com/office/drawing/2014/main" id="{389FB726-196E-5578-69DD-03DCD7EA2AD8}"/>
              </a:ext>
            </a:extLst>
          </p:cNvPr>
          <p:cNvSpPr/>
          <p:nvPr/>
        </p:nvSpPr>
        <p:spPr>
          <a:xfrm rot="5400000">
            <a:off x="1214709" y="2385649"/>
            <a:ext cx="1040130" cy="1184151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5DDEB4-334C-0BFB-CEF6-3E56C418D38C}"/>
              </a:ext>
            </a:extLst>
          </p:cNvPr>
          <p:cNvGrpSpPr/>
          <p:nvPr/>
        </p:nvGrpSpPr>
        <p:grpSpPr>
          <a:xfrm>
            <a:off x="939138" y="1232644"/>
            <a:ext cx="1750966" cy="1225619"/>
            <a:chOff x="1673342" y="31360"/>
            <a:chExt cx="1750966" cy="1225619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159DD64-8CBB-F734-9F90-B6F41655E11C}"/>
                </a:ext>
              </a:extLst>
            </p:cNvPr>
            <p:cNvSpPr/>
            <p:nvPr/>
          </p:nvSpPr>
          <p:spPr>
            <a:xfrm>
              <a:off x="1673342" y="31360"/>
              <a:ext cx="1750966" cy="1225619"/>
            </a:xfrm>
            <a:prstGeom prst="roundRect">
              <a:avLst>
                <a:gd name="adj" fmla="val 166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ounded Rectangle 5">
              <a:extLst>
                <a:ext uri="{FF2B5EF4-FFF2-40B4-BE49-F238E27FC236}">
                  <a16:creationId xmlns:a16="http://schemas.microsoft.com/office/drawing/2014/main" id="{AAD0FBBB-4AE9-C473-BAE4-B053DB10D6CF}"/>
                </a:ext>
              </a:extLst>
            </p:cNvPr>
            <p:cNvSpPr txBox="1"/>
            <p:nvPr/>
          </p:nvSpPr>
          <p:spPr>
            <a:xfrm>
              <a:off x="1733183" y="91201"/>
              <a:ext cx="1631284" cy="1105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114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Build the Data Warehouse</a:t>
              </a:r>
            </a:p>
          </p:txBody>
        </p:sp>
      </p:grpSp>
      <p:sp>
        <p:nvSpPr>
          <p:cNvPr id="4" name="Bent-Up Arrow 3">
            <a:extLst>
              <a:ext uri="{FF2B5EF4-FFF2-40B4-BE49-F238E27FC236}">
                <a16:creationId xmlns:a16="http://schemas.microsoft.com/office/drawing/2014/main" id="{1B565F7E-0C30-3008-ECC3-A751086EC64F}"/>
              </a:ext>
            </a:extLst>
          </p:cNvPr>
          <p:cNvSpPr/>
          <p:nvPr/>
        </p:nvSpPr>
        <p:spPr>
          <a:xfrm rot="5400000">
            <a:off x="2666447" y="3762424"/>
            <a:ext cx="1040130" cy="1184151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50000"/>
              <a:hueOff val="-3342513"/>
              <a:satOff val="-12663"/>
              <a:lumOff val="4207"/>
              <a:alphaOff val="0"/>
            </a:schemeClr>
          </a:fillRef>
          <a:effectRef idx="0">
            <a:schemeClr val="accent5">
              <a:tint val="50000"/>
              <a:hueOff val="-3342513"/>
              <a:satOff val="-12663"/>
              <a:lumOff val="4207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BDF25BA-B4F9-E7A8-6845-7D8224B9E4D7}"/>
              </a:ext>
            </a:extLst>
          </p:cNvPr>
          <p:cNvGrpSpPr/>
          <p:nvPr/>
        </p:nvGrpSpPr>
        <p:grpSpPr>
          <a:xfrm>
            <a:off x="2390875" y="2609419"/>
            <a:ext cx="1750966" cy="1225619"/>
            <a:chOff x="3125079" y="1408135"/>
            <a:chExt cx="1750966" cy="1225619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D3EAC0E-BE85-5ECC-E1FD-E51A78AA1124}"/>
                </a:ext>
              </a:extLst>
            </p:cNvPr>
            <p:cNvSpPr/>
            <p:nvPr/>
          </p:nvSpPr>
          <p:spPr>
            <a:xfrm>
              <a:off x="3125079" y="1408135"/>
              <a:ext cx="1750966" cy="1225619"/>
            </a:xfrm>
            <a:prstGeom prst="roundRect">
              <a:avLst>
                <a:gd name="adj" fmla="val 166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252848"/>
                <a:satOff val="-5806"/>
                <a:lumOff val="-3922"/>
                <a:alphaOff val="0"/>
              </a:schemeClr>
            </a:fillRef>
            <a:effectRef idx="0">
              <a:schemeClr val="accent5">
                <a:hueOff val="-2252848"/>
                <a:satOff val="-5806"/>
                <a:lumOff val="-392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ounded Rectangle 8">
              <a:extLst>
                <a:ext uri="{FF2B5EF4-FFF2-40B4-BE49-F238E27FC236}">
                  <a16:creationId xmlns:a16="http://schemas.microsoft.com/office/drawing/2014/main" id="{E52C62A3-696F-C536-8993-F6E261575462}"/>
                </a:ext>
              </a:extLst>
            </p:cNvPr>
            <p:cNvSpPr txBox="1"/>
            <p:nvPr/>
          </p:nvSpPr>
          <p:spPr>
            <a:xfrm>
              <a:off x="3184920" y="1467976"/>
              <a:ext cx="1631284" cy="1105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114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Setup the ETL Pipeline</a:t>
              </a:r>
            </a:p>
          </p:txBody>
        </p:sp>
      </p:grpSp>
      <p:sp>
        <p:nvSpPr>
          <p:cNvPr id="6" name="Bent-Up Arrow 5">
            <a:extLst>
              <a:ext uri="{FF2B5EF4-FFF2-40B4-BE49-F238E27FC236}">
                <a16:creationId xmlns:a16="http://schemas.microsoft.com/office/drawing/2014/main" id="{0D9E54D5-50A6-E241-86DF-A251E0C062B1}"/>
              </a:ext>
            </a:extLst>
          </p:cNvPr>
          <p:cNvSpPr/>
          <p:nvPr/>
        </p:nvSpPr>
        <p:spPr>
          <a:xfrm rot="5400000">
            <a:off x="4118184" y="5139200"/>
            <a:ext cx="1040130" cy="1184151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50000"/>
              <a:hueOff val="-6685025"/>
              <a:satOff val="-25325"/>
              <a:lumOff val="8413"/>
              <a:alphaOff val="0"/>
            </a:schemeClr>
          </a:fillRef>
          <a:effectRef idx="0">
            <a:schemeClr val="accent5">
              <a:tint val="50000"/>
              <a:hueOff val="-6685025"/>
              <a:satOff val="-25325"/>
              <a:lumOff val="8413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7AEAAD-5C4C-B164-7187-8FCBE7EED560}"/>
              </a:ext>
            </a:extLst>
          </p:cNvPr>
          <p:cNvGrpSpPr/>
          <p:nvPr/>
        </p:nvGrpSpPr>
        <p:grpSpPr>
          <a:xfrm>
            <a:off x="3842613" y="3986195"/>
            <a:ext cx="1750966" cy="1225619"/>
            <a:chOff x="4576817" y="2784911"/>
            <a:chExt cx="1750966" cy="1225619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E26C4AB-6C86-F4DD-2A2A-ACFFD3F9EDE8}"/>
                </a:ext>
              </a:extLst>
            </p:cNvPr>
            <p:cNvSpPr/>
            <p:nvPr/>
          </p:nvSpPr>
          <p:spPr>
            <a:xfrm>
              <a:off x="4576817" y="2784911"/>
              <a:ext cx="1750966" cy="1225619"/>
            </a:xfrm>
            <a:prstGeom prst="roundRect">
              <a:avLst>
                <a:gd name="adj" fmla="val 166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49B6E9A-8215-2E42-AD25-3ED333B2034C}"/>
                </a:ext>
              </a:extLst>
            </p:cNvPr>
            <p:cNvSpPr txBox="1"/>
            <p:nvPr/>
          </p:nvSpPr>
          <p:spPr>
            <a:xfrm>
              <a:off x="4636658" y="2844752"/>
              <a:ext cx="1631284" cy="1105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114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Develop the OLAP Application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8C2841F-83D3-BB05-B7D2-064E1279358D}"/>
              </a:ext>
            </a:extLst>
          </p:cNvPr>
          <p:cNvGrpSpPr/>
          <p:nvPr/>
        </p:nvGrpSpPr>
        <p:grpSpPr>
          <a:xfrm>
            <a:off x="5294350" y="5362970"/>
            <a:ext cx="1750966" cy="1225619"/>
            <a:chOff x="6028554" y="4161686"/>
            <a:chExt cx="1750966" cy="1225619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6059150-BC36-3FEB-8B4D-FB738727F735}"/>
                </a:ext>
              </a:extLst>
            </p:cNvPr>
            <p:cNvSpPr/>
            <p:nvPr/>
          </p:nvSpPr>
          <p:spPr>
            <a:xfrm>
              <a:off x="6028554" y="4161686"/>
              <a:ext cx="1750966" cy="1225619"/>
            </a:xfrm>
            <a:prstGeom prst="roundRect">
              <a:avLst>
                <a:gd name="adj" fmla="val 166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6758543"/>
                <a:satOff val="-17419"/>
                <a:lumOff val="-11765"/>
                <a:alphaOff val="0"/>
              </a:schemeClr>
            </a:fillRef>
            <a:effectRef idx="0">
              <a:schemeClr val="accent5"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ounded Rectangle 13">
              <a:extLst>
                <a:ext uri="{FF2B5EF4-FFF2-40B4-BE49-F238E27FC236}">
                  <a16:creationId xmlns:a16="http://schemas.microsoft.com/office/drawing/2014/main" id="{2281AC3D-ACB2-E4DB-A686-0CADBC1C4C6B}"/>
                </a:ext>
              </a:extLst>
            </p:cNvPr>
            <p:cNvSpPr txBox="1"/>
            <p:nvPr/>
          </p:nvSpPr>
          <p:spPr>
            <a:xfrm>
              <a:off x="6088395" y="4221527"/>
              <a:ext cx="1631284" cy="1105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114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Apply Query Optimization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9CCDCD-99B4-A0DA-2D99-C21DFC3DCEC8}"/>
              </a:ext>
            </a:extLst>
          </p:cNvPr>
          <p:cNvGrpSpPr/>
          <p:nvPr/>
        </p:nvGrpSpPr>
        <p:grpSpPr>
          <a:xfrm>
            <a:off x="2749849" y="1292485"/>
            <a:ext cx="5148842" cy="1061848"/>
            <a:chOff x="3409334" y="148250"/>
            <a:chExt cx="1288461" cy="106184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8C2CBE-7570-A603-4DFC-82E0DF590107}"/>
                </a:ext>
              </a:extLst>
            </p:cNvPr>
            <p:cNvSpPr/>
            <p:nvPr/>
          </p:nvSpPr>
          <p:spPr>
            <a:xfrm>
              <a:off x="3424309" y="148250"/>
              <a:ext cx="1273486" cy="9906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808DD2-1275-4956-3628-476EAD739CAA}"/>
                </a:ext>
              </a:extLst>
            </p:cNvPr>
            <p:cNvSpPr txBox="1"/>
            <p:nvPr/>
          </p:nvSpPr>
          <p:spPr>
            <a:xfrm>
              <a:off x="3409334" y="219498"/>
              <a:ext cx="1273486" cy="990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228600" lvl="1" indent="-228600" algn="l" defTabSz="889000">
                <a:lnSpc>
                  <a:spcPct val="114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Design the dimensional model</a:t>
              </a:r>
            </a:p>
            <a:p>
              <a:pPr marL="228600" lvl="1" indent="-228600" algn="l" defTabSz="889000">
                <a:lnSpc>
                  <a:spcPct val="114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dirty="0"/>
                <a:t>Determine the dimensional hierarchy</a:t>
              </a:r>
            </a:p>
            <a:p>
              <a:pPr marL="228600" lvl="1" indent="-228600" algn="l" defTabSz="889000">
                <a:lnSpc>
                  <a:spcPct val="114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Build the database schema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ED5715-1817-0D8A-1BA9-4A4E3AD02C90}"/>
              </a:ext>
            </a:extLst>
          </p:cNvPr>
          <p:cNvGrpSpPr/>
          <p:nvPr/>
        </p:nvGrpSpPr>
        <p:grpSpPr>
          <a:xfrm>
            <a:off x="4201682" y="2680668"/>
            <a:ext cx="6789406" cy="1061848"/>
            <a:chOff x="3424309" y="148250"/>
            <a:chExt cx="1273486" cy="106184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43D0518-472C-25CD-4279-FA9BCCF0BE28}"/>
                </a:ext>
              </a:extLst>
            </p:cNvPr>
            <p:cNvSpPr/>
            <p:nvPr/>
          </p:nvSpPr>
          <p:spPr>
            <a:xfrm>
              <a:off x="3424309" y="148250"/>
              <a:ext cx="1273486" cy="9906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D0F14A-1D84-EB07-5574-62FFCB073624}"/>
                </a:ext>
              </a:extLst>
            </p:cNvPr>
            <p:cNvSpPr txBox="1"/>
            <p:nvPr/>
          </p:nvSpPr>
          <p:spPr>
            <a:xfrm>
              <a:off x="3424309" y="219498"/>
              <a:ext cx="1273486" cy="990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228600" lvl="1" indent="-228600" algn="l" defTabSz="889000">
                <a:lnSpc>
                  <a:spcPct val="114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Determine the data for extraction</a:t>
              </a:r>
            </a:p>
            <a:p>
              <a:pPr marL="228600" lvl="1" indent="-228600" algn="l" defTabSz="889000">
                <a:lnSpc>
                  <a:spcPct val="114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dirty="0"/>
                <a:t>Determine the data transformation</a:t>
              </a:r>
            </a:p>
            <a:p>
              <a:pPr marL="228600" lvl="1" indent="-228600" algn="l" defTabSz="889000">
                <a:lnSpc>
                  <a:spcPct val="114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Execute the ETL script from source to warehouse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710CBC8-F08C-AD86-08AB-91565B9ADE98}"/>
              </a:ext>
            </a:extLst>
          </p:cNvPr>
          <p:cNvSpPr txBox="1"/>
          <p:nvPr/>
        </p:nvSpPr>
        <p:spPr>
          <a:xfrm>
            <a:off x="5653420" y="4098572"/>
            <a:ext cx="6142340" cy="9906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114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Formulate OLAP queries</a:t>
            </a:r>
          </a:p>
          <a:p>
            <a:pPr marL="228600" lvl="1" indent="-228600" algn="l" defTabSz="889000">
              <a:lnSpc>
                <a:spcPct val="114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dirty="0"/>
              <a:t>Design the OLAP dashboard</a:t>
            </a:r>
          </a:p>
          <a:p>
            <a:pPr marL="228600" lvl="1" indent="-228600" algn="l" defTabSz="889000">
              <a:lnSpc>
                <a:spcPct val="114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Perform functional testing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1A457B-6142-DCC2-8DD1-D7ECD997D46E}"/>
              </a:ext>
            </a:extLst>
          </p:cNvPr>
          <p:cNvSpPr txBox="1"/>
          <p:nvPr/>
        </p:nvSpPr>
        <p:spPr>
          <a:xfrm>
            <a:off x="7105157" y="5475514"/>
            <a:ext cx="4836907" cy="9906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114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Understand performance bottlenecks</a:t>
            </a:r>
          </a:p>
          <a:p>
            <a:pPr marL="228600" lvl="1" indent="-228600" algn="l" defTabSz="889000">
              <a:lnSpc>
                <a:spcPct val="114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dirty="0"/>
              <a:t>Apply optimization strategies</a:t>
            </a:r>
          </a:p>
          <a:p>
            <a:pPr marL="228600" lvl="1" indent="-228600" algn="l" defTabSz="889000">
              <a:lnSpc>
                <a:spcPct val="114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Compare query performance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54DD9B-9AA7-E959-1536-599BC66C2CDA}"/>
              </a:ext>
            </a:extLst>
          </p:cNvPr>
          <p:cNvSpPr/>
          <p:nvPr/>
        </p:nvSpPr>
        <p:spPr>
          <a:xfrm>
            <a:off x="0" y="264510"/>
            <a:ext cx="12192000" cy="6719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MCO1 Tasks</a:t>
            </a:r>
          </a:p>
        </p:txBody>
      </p:sp>
    </p:spTree>
    <p:extLst>
      <p:ext uri="{BB962C8B-B14F-4D97-AF65-F5344CB8AC3E}">
        <p14:creationId xmlns:p14="http://schemas.microsoft.com/office/powerpoint/2010/main" val="201579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58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Data Warehouse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003806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00380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97637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the source database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34213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analyze the schema (tables, relationships, constraints) in the source database.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99816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dimensional model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465576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either a Star or a Snowflake schema, the warehouse should have a minimum of </a:t>
            </a:r>
            <a:r>
              <a:rPr lang="en-US" sz="1400" dirty="0">
                <a:solidFill>
                  <a:srgbClr val="3F726B"/>
                </a:solidFill>
                <a:latin typeface="Calibri" pitchFamily="34" charset="0"/>
                <a:cs typeface="Calibri" pitchFamily="34" charset="-120"/>
              </a:rPr>
              <a:t>1 fact table and 3 dimension tables.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28066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42806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253230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 the dimensional hierarchy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18990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hierarchy guides the roll-up and drill-down operations that influence the granularity of the reports.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434076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48640" y="5434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540664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database schema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577240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Postgres or MySQL.</a:t>
            </a:r>
            <a:endParaRPr 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93964C-9E22-5665-7A40-97579612903B}"/>
              </a:ext>
            </a:extLst>
          </p:cNvPr>
          <p:cNvSpPr txBox="1"/>
          <p:nvPr/>
        </p:nvSpPr>
        <p:spPr>
          <a:xfrm>
            <a:off x="9133139" y="640080"/>
            <a:ext cx="2388301" cy="73284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 lIns="180000" tIns="180000" rIns="180000" bIns="180000" rtlCol="0" anchor="ctr" anchorCtr="1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AI Use: BANNED</a:t>
            </a: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9A720C2F-1815-7B35-B48C-0E209D621778}"/>
              </a:ext>
            </a:extLst>
          </p:cNvPr>
          <p:cNvSpPr txBox="1"/>
          <p:nvPr/>
        </p:nvSpPr>
        <p:spPr>
          <a:xfrm>
            <a:off x="7815519" y="1670358"/>
            <a:ext cx="1145309" cy="33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6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334C722-1D38-DEC2-9696-48E38226BE56}"/>
              </a:ext>
            </a:extLst>
          </p:cNvPr>
          <p:cNvSpPr txBox="1"/>
          <p:nvPr/>
        </p:nvSpPr>
        <p:spPr>
          <a:xfrm>
            <a:off x="8960828" y="1671519"/>
            <a:ext cx="1098964" cy="32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6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924AD46A-02E4-BA3D-3DAF-F4095B7162DD}"/>
              </a:ext>
            </a:extLst>
          </p:cNvPr>
          <p:cNvSpPr txBox="1"/>
          <p:nvPr/>
        </p:nvSpPr>
        <p:spPr>
          <a:xfrm>
            <a:off x="10039531" y="1658715"/>
            <a:ext cx="1165570" cy="33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8852BF21-C28C-0AC9-BEF9-5CC5CD4FADB1}"/>
              </a:ext>
            </a:extLst>
          </p:cNvPr>
          <p:cNvSpPr/>
          <p:nvPr/>
        </p:nvSpPr>
        <p:spPr>
          <a:xfrm>
            <a:off x="7841605" y="242137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FF3CD8D9-063B-A80B-E926-7E81B79F67C8}"/>
              </a:ext>
            </a:extLst>
          </p:cNvPr>
          <p:cNvSpPr/>
          <p:nvPr/>
        </p:nvSpPr>
        <p:spPr>
          <a:xfrm>
            <a:off x="8940568" y="242210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CEE4C29D-1384-EEA3-9405-56E441FE749B}"/>
              </a:ext>
            </a:extLst>
          </p:cNvPr>
          <p:cNvSpPr/>
          <p:nvPr/>
        </p:nvSpPr>
        <p:spPr>
          <a:xfrm>
            <a:off x="10039531" y="240277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7761B749-9AB5-F6A1-E8AE-47C72DC77D49}"/>
              </a:ext>
            </a:extLst>
          </p:cNvPr>
          <p:cNvSpPr/>
          <p:nvPr/>
        </p:nvSpPr>
        <p:spPr>
          <a:xfrm>
            <a:off x="8259486" y="2342134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B1A5BAF9-05C9-BA5F-D968-00506CAD1FCD}"/>
              </a:ext>
            </a:extLst>
          </p:cNvPr>
          <p:cNvSpPr/>
          <p:nvPr/>
        </p:nvSpPr>
        <p:spPr>
          <a:xfrm>
            <a:off x="7815519" y="3555902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35C0747E-A915-055E-0472-7729EB166DDD}"/>
              </a:ext>
            </a:extLst>
          </p:cNvPr>
          <p:cNvSpPr/>
          <p:nvPr/>
        </p:nvSpPr>
        <p:spPr>
          <a:xfrm>
            <a:off x="8914482" y="3556629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86480A60-017A-4922-1D2D-EE6F34506EDA}"/>
              </a:ext>
            </a:extLst>
          </p:cNvPr>
          <p:cNvSpPr/>
          <p:nvPr/>
        </p:nvSpPr>
        <p:spPr>
          <a:xfrm>
            <a:off x="10013445" y="3537302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0184510E-9DE1-CF7F-4790-5E8215CBEFB2}"/>
              </a:ext>
            </a:extLst>
          </p:cNvPr>
          <p:cNvSpPr/>
          <p:nvPr/>
        </p:nvSpPr>
        <p:spPr>
          <a:xfrm>
            <a:off x="8233400" y="3476657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19572707-2D3B-2842-A07E-EDA5260C7845}"/>
              </a:ext>
            </a:extLst>
          </p:cNvPr>
          <p:cNvSpPr/>
          <p:nvPr/>
        </p:nvSpPr>
        <p:spPr>
          <a:xfrm>
            <a:off x="7815519" y="465682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B17D1BC1-0731-66B0-B2C7-8DFEBFE3EA2B}"/>
              </a:ext>
            </a:extLst>
          </p:cNvPr>
          <p:cNvSpPr/>
          <p:nvPr/>
        </p:nvSpPr>
        <p:spPr>
          <a:xfrm>
            <a:off x="8914482" y="465755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3E596160-BBA3-91D1-4D6E-5F90B640BA0C}"/>
              </a:ext>
            </a:extLst>
          </p:cNvPr>
          <p:cNvSpPr/>
          <p:nvPr/>
        </p:nvSpPr>
        <p:spPr>
          <a:xfrm>
            <a:off x="10013445" y="463822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FBD46C73-7B91-4749-5CF3-BD6216544ADC}"/>
              </a:ext>
            </a:extLst>
          </p:cNvPr>
          <p:cNvSpPr/>
          <p:nvPr/>
        </p:nvSpPr>
        <p:spPr>
          <a:xfrm>
            <a:off x="8233400" y="4577584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DC3C3D5E-E1C2-3638-5355-D26ABEA67670}"/>
              </a:ext>
            </a:extLst>
          </p:cNvPr>
          <p:cNvSpPr/>
          <p:nvPr/>
        </p:nvSpPr>
        <p:spPr>
          <a:xfrm>
            <a:off x="7795256" y="5735828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F5FEF2C7-4315-A9B1-FC23-1948CD0A3FC6}"/>
              </a:ext>
            </a:extLst>
          </p:cNvPr>
          <p:cNvSpPr/>
          <p:nvPr/>
        </p:nvSpPr>
        <p:spPr>
          <a:xfrm>
            <a:off x="8894219" y="5736555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752843D9-7334-3AD4-4E92-BBDD8573DBB3}"/>
              </a:ext>
            </a:extLst>
          </p:cNvPr>
          <p:cNvSpPr/>
          <p:nvPr/>
        </p:nvSpPr>
        <p:spPr>
          <a:xfrm>
            <a:off x="9993182" y="5717228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14">
            <a:extLst>
              <a:ext uri="{FF2B5EF4-FFF2-40B4-BE49-F238E27FC236}">
                <a16:creationId xmlns:a16="http://schemas.microsoft.com/office/drawing/2014/main" id="{1A589068-9224-60A2-BAA0-736AE6E6B7BF}"/>
              </a:ext>
            </a:extLst>
          </p:cNvPr>
          <p:cNvSpPr/>
          <p:nvPr/>
        </p:nvSpPr>
        <p:spPr>
          <a:xfrm>
            <a:off x="8213137" y="5656583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1FF1-98E8-42B5-8578-C046A905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A8E782-DE11-591A-A080-271D930E141D}"/>
              </a:ext>
            </a:extLst>
          </p:cNvPr>
          <p:cNvSpPr/>
          <p:nvPr/>
        </p:nvSpPr>
        <p:spPr>
          <a:xfrm>
            <a:off x="548640" y="457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F806CC-3264-AAFA-5162-C5297DA96D34}"/>
              </a:ext>
            </a:extLst>
          </p:cNvPr>
          <p:cNvSpPr txBox="1"/>
          <p:nvPr/>
        </p:nvSpPr>
        <p:spPr>
          <a:xfrm>
            <a:off x="548640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A9852A-C8C6-C1B4-ECD6-ADA7D414F294}"/>
              </a:ext>
            </a:extLst>
          </p:cNvPr>
          <p:cNvSpPr txBox="1"/>
          <p:nvPr/>
        </p:nvSpPr>
        <p:spPr>
          <a:xfrm>
            <a:off x="548640" y="11658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ETL Pipeline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7CDF00-701E-70F3-87FD-0C528D8412C7}"/>
              </a:ext>
            </a:extLst>
          </p:cNvPr>
          <p:cNvSpPr/>
          <p:nvPr/>
        </p:nvSpPr>
        <p:spPr>
          <a:xfrm>
            <a:off x="548640" y="2003806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ED39F9-E805-383E-5845-BD80CF5D3C4A}"/>
              </a:ext>
            </a:extLst>
          </p:cNvPr>
          <p:cNvSpPr txBox="1"/>
          <p:nvPr/>
        </p:nvSpPr>
        <p:spPr>
          <a:xfrm>
            <a:off x="548640" y="200380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C1265E0-CB3A-33EC-8ED9-73F3DAF178CA}"/>
              </a:ext>
            </a:extLst>
          </p:cNvPr>
          <p:cNvSpPr txBox="1"/>
          <p:nvPr/>
        </p:nvSpPr>
        <p:spPr>
          <a:xfrm>
            <a:off x="1234440" y="197637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4A"/>
                </a:solidFill>
                <a:latin typeface="Cambria" pitchFamily="34" charset="0"/>
              </a:rPr>
              <a:t>Determine the data to be extracted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D06587-A20A-478F-6CFF-CB77D8C7B310}"/>
              </a:ext>
            </a:extLst>
          </p:cNvPr>
          <p:cNvSpPr txBox="1"/>
          <p:nvPr/>
        </p:nvSpPr>
        <p:spPr>
          <a:xfrm>
            <a:off x="1234440" y="234213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the data to be extracted, taking into account the schema, table relationships, integrity constraints, and target OLAP reports.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746737B-7162-9F1C-5E9D-3AA024D630CF}"/>
              </a:ext>
            </a:extLst>
          </p:cNvPr>
          <p:cNvSpPr/>
          <p:nvPr/>
        </p:nvSpPr>
        <p:spPr>
          <a:xfrm>
            <a:off x="548640" y="3127248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01C18EF-139D-D49E-E2D8-B5C13F359971}"/>
              </a:ext>
            </a:extLst>
          </p:cNvPr>
          <p:cNvSpPr txBox="1"/>
          <p:nvPr/>
        </p:nvSpPr>
        <p:spPr>
          <a:xfrm>
            <a:off x="5486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3CBF733-9861-C04A-CB4A-CB31BFD9DCFA}"/>
              </a:ext>
            </a:extLst>
          </p:cNvPr>
          <p:cNvSpPr txBox="1"/>
          <p:nvPr/>
        </p:nvSpPr>
        <p:spPr>
          <a:xfrm>
            <a:off x="1234440" y="3099816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 the data transformation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510DD2F-BA18-E040-4EE5-DE00EBC087E7}"/>
              </a:ext>
            </a:extLst>
          </p:cNvPr>
          <p:cNvSpPr txBox="1"/>
          <p:nvPr/>
        </p:nvSpPr>
        <p:spPr>
          <a:xfrm>
            <a:off x="1234440" y="3465576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transformation script, e.g., cleaning, splitting, merging, aggregating, formatting, fixing null values, changing data type, among others.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8265ACE-DD14-5232-A9A1-B08C6F84D1AD}"/>
              </a:ext>
            </a:extLst>
          </p:cNvPr>
          <p:cNvSpPr/>
          <p:nvPr/>
        </p:nvSpPr>
        <p:spPr>
          <a:xfrm>
            <a:off x="548640" y="428066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1305F99-1276-A9C2-AC48-F56FDDB9FA5D}"/>
              </a:ext>
            </a:extLst>
          </p:cNvPr>
          <p:cNvSpPr txBox="1"/>
          <p:nvPr/>
        </p:nvSpPr>
        <p:spPr>
          <a:xfrm>
            <a:off x="548640" y="42806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1536272-7443-154C-AC64-8B817E6EA23F}"/>
              </a:ext>
            </a:extLst>
          </p:cNvPr>
          <p:cNvSpPr txBox="1"/>
          <p:nvPr/>
        </p:nvSpPr>
        <p:spPr>
          <a:xfrm>
            <a:off x="1234440" y="4253230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the ETL script</a:t>
            </a:r>
            <a:endParaRPr lang="en-US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120A989-1CE7-3323-2878-82EC9E0A72AB}"/>
              </a:ext>
            </a:extLst>
          </p:cNvPr>
          <p:cNvSpPr txBox="1"/>
          <p:nvPr/>
        </p:nvSpPr>
        <p:spPr>
          <a:xfrm>
            <a:off x="1234440" y="4618990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full ETL script – extracting the data from the source database, applying transformation, and loading to the warehouse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62C9BD4-7FB1-7D38-A1BB-4E462B17E4C5}"/>
              </a:ext>
            </a:extLst>
          </p:cNvPr>
          <p:cNvSpPr/>
          <p:nvPr/>
        </p:nvSpPr>
        <p:spPr>
          <a:xfrm>
            <a:off x="548640" y="5434076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4B157AA-049D-CFD7-828B-B55D0CDEB1F5}"/>
              </a:ext>
            </a:extLst>
          </p:cNvPr>
          <p:cNvSpPr txBox="1"/>
          <p:nvPr/>
        </p:nvSpPr>
        <p:spPr>
          <a:xfrm>
            <a:off x="548640" y="5434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3667958-9EC3-0AB0-09F1-BA99307E1B5F}"/>
              </a:ext>
            </a:extLst>
          </p:cNvPr>
          <p:cNvSpPr txBox="1"/>
          <p:nvPr/>
        </p:nvSpPr>
        <p:spPr>
          <a:xfrm>
            <a:off x="1234440" y="540664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data warehouse</a:t>
            </a:r>
            <a:endParaRPr lang="en-US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2D727E2-079E-D65E-FC73-AD379405B1EA}"/>
              </a:ext>
            </a:extLst>
          </p:cNvPr>
          <p:cNvSpPr txBox="1"/>
          <p:nvPr/>
        </p:nvSpPr>
        <p:spPr>
          <a:xfrm>
            <a:off x="1234440" y="577240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cs typeface="Calibri" pitchFamily="34" charset="-120"/>
              </a:rPr>
              <a:t>Execute the ETL script and validate the correctness of the resulting warehouse</a:t>
            </a:r>
            <a:endParaRPr lang="en-US" sz="14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77947E93-D3C6-5656-5753-20CEBADE041A}"/>
              </a:ext>
            </a:extLst>
          </p:cNvPr>
          <p:cNvSpPr txBox="1"/>
          <p:nvPr/>
        </p:nvSpPr>
        <p:spPr>
          <a:xfrm>
            <a:off x="7815519" y="1670358"/>
            <a:ext cx="1145309" cy="33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6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91C34780-5047-B869-4B84-3A3BC407CC9B}"/>
              </a:ext>
            </a:extLst>
          </p:cNvPr>
          <p:cNvSpPr txBox="1"/>
          <p:nvPr/>
        </p:nvSpPr>
        <p:spPr>
          <a:xfrm>
            <a:off x="8960828" y="1671519"/>
            <a:ext cx="1098964" cy="32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6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6077029C-38A1-D7A6-ABC8-2A2DE5297412}"/>
              </a:ext>
            </a:extLst>
          </p:cNvPr>
          <p:cNvSpPr txBox="1"/>
          <p:nvPr/>
        </p:nvSpPr>
        <p:spPr>
          <a:xfrm>
            <a:off x="10039531" y="1658715"/>
            <a:ext cx="1165570" cy="33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A4166BDE-0125-7B9F-540A-6D55EAFC7BA0}"/>
              </a:ext>
            </a:extLst>
          </p:cNvPr>
          <p:cNvSpPr/>
          <p:nvPr/>
        </p:nvSpPr>
        <p:spPr>
          <a:xfrm>
            <a:off x="7841605" y="242137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31CB4819-339E-1C65-ACBA-DF260E3D5496}"/>
              </a:ext>
            </a:extLst>
          </p:cNvPr>
          <p:cNvSpPr/>
          <p:nvPr/>
        </p:nvSpPr>
        <p:spPr>
          <a:xfrm>
            <a:off x="8940568" y="242210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3480B710-EF51-3C65-22DA-D34BE4459B61}"/>
              </a:ext>
            </a:extLst>
          </p:cNvPr>
          <p:cNvSpPr/>
          <p:nvPr/>
        </p:nvSpPr>
        <p:spPr>
          <a:xfrm>
            <a:off x="10039531" y="240277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DC24AAA4-3396-C4C7-8B89-4F198E0E1BDD}"/>
              </a:ext>
            </a:extLst>
          </p:cNvPr>
          <p:cNvSpPr/>
          <p:nvPr/>
        </p:nvSpPr>
        <p:spPr>
          <a:xfrm>
            <a:off x="8259486" y="2342134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C2F6CA1F-5EDB-5AEF-BC93-90189971D35D}"/>
              </a:ext>
            </a:extLst>
          </p:cNvPr>
          <p:cNvSpPr/>
          <p:nvPr/>
        </p:nvSpPr>
        <p:spPr>
          <a:xfrm>
            <a:off x="7815519" y="3555902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4FF3B48C-F7FC-DC5D-4510-1E1EF0BFF40F}"/>
              </a:ext>
            </a:extLst>
          </p:cNvPr>
          <p:cNvSpPr/>
          <p:nvPr/>
        </p:nvSpPr>
        <p:spPr>
          <a:xfrm>
            <a:off x="8914482" y="3556629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39907DA7-233B-536F-E288-C80FB6B46C09}"/>
              </a:ext>
            </a:extLst>
          </p:cNvPr>
          <p:cNvSpPr/>
          <p:nvPr/>
        </p:nvSpPr>
        <p:spPr>
          <a:xfrm>
            <a:off x="10013445" y="3537302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A9AA9330-D85A-8F86-2F51-E8D2C6CD3A8C}"/>
              </a:ext>
            </a:extLst>
          </p:cNvPr>
          <p:cNvSpPr/>
          <p:nvPr/>
        </p:nvSpPr>
        <p:spPr>
          <a:xfrm>
            <a:off x="9340419" y="3476037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B1A1320F-B4F1-DB38-B453-0A7909DFCD55}"/>
              </a:ext>
            </a:extLst>
          </p:cNvPr>
          <p:cNvSpPr/>
          <p:nvPr/>
        </p:nvSpPr>
        <p:spPr>
          <a:xfrm>
            <a:off x="7815519" y="465682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2D5E09C6-FE7C-54ED-EC6B-B047F5CAC830}"/>
              </a:ext>
            </a:extLst>
          </p:cNvPr>
          <p:cNvSpPr/>
          <p:nvPr/>
        </p:nvSpPr>
        <p:spPr>
          <a:xfrm>
            <a:off x="8914482" y="465755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B1410533-3843-B22D-5C61-CFADC0D073B7}"/>
              </a:ext>
            </a:extLst>
          </p:cNvPr>
          <p:cNvSpPr/>
          <p:nvPr/>
        </p:nvSpPr>
        <p:spPr>
          <a:xfrm>
            <a:off x="10013445" y="463822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6E6F2289-CD01-AD43-EB38-2257A0D3B2AA}"/>
              </a:ext>
            </a:extLst>
          </p:cNvPr>
          <p:cNvSpPr/>
          <p:nvPr/>
        </p:nvSpPr>
        <p:spPr>
          <a:xfrm>
            <a:off x="9307180" y="4570899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446C509D-FB58-E83A-4CBF-EDCD34DD8068}"/>
              </a:ext>
            </a:extLst>
          </p:cNvPr>
          <p:cNvSpPr/>
          <p:nvPr/>
        </p:nvSpPr>
        <p:spPr>
          <a:xfrm>
            <a:off x="7795256" y="5735828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0C6F4FC3-F53C-AD44-0461-9AA9CE43A99F}"/>
              </a:ext>
            </a:extLst>
          </p:cNvPr>
          <p:cNvSpPr/>
          <p:nvPr/>
        </p:nvSpPr>
        <p:spPr>
          <a:xfrm>
            <a:off x="8894219" y="5736555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E86AEFFA-076F-95A0-AEE0-60966667B14E}"/>
              </a:ext>
            </a:extLst>
          </p:cNvPr>
          <p:cNvSpPr/>
          <p:nvPr/>
        </p:nvSpPr>
        <p:spPr>
          <a:xfrm>
            <a:off x="9993182" y="5717228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14">
            <a:extLst>
              <a:ext uri="{FF2B5EF4-FFF2-40B4-BE49-F238E27FC236}">
                <a16:creationId xmlns:a16="http://schemas.microsoft.com/office/drawing/2014/main" id="{8358D9C8-114B-834B-42B9-522B2280915A}"/>
              </a:ext>
            </a:extLst>
          </p:cNvPr>
          <p:cNvSpPr/>
          <p:nvPr/>
        </p:nvSpPr>
        <p:spPr>
          <a:xfrm>
            <a:off x="8213137" y="5656583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B5553-6614-C0F2-094F-B416DAB53848}"/>
              </a:ext>
            </a:extLst>
          </p:cNvPr>
          <p:cNvSpPr txBox="1"/>
          <p:nvPr/>
        </p:nvSpPr>
        <p:spPr>
          <a:xfrm>
            <a:off x="6643939" y="410404"/>
            <a:ext cx="5205161" cy="7328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180000" tIns="180000" rIns="180000" bIns="180000" rtlCol="0" anchor="ctr" anchorCtr="1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AI Use: Allowed within set constraints</a:t>
            </a:r>
          </a:p>
        </p:txBody>
      </p:sp>
    </p:spTree>
    <p:extLst>
      <p:ext uri="{BB962C8B-B14F-4D97-AF65-F5344CB8AC3E}">
        <p14:creationId xmlns:p14="http://schemas.microsoft.com/office/powerpoint/2010/main" val="199920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5295-7368-6CB4-2624-5CBED564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80A8DA-5915-07E4-A8AE-7BBF3A4EFBC9}"/>
              </a:ext>
            </a:extLst>
          </p:cNvPr>
          <p:cNvSpPr/>
          <p:nvPr/>
        </p:nvSpPr>
        <p:spPr>
          <a:xfrm>
            <a:off x="548640" y="457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C411CC-9C93-665A-695D-C4E03D60B4B6}"/>
              </a:ext>
            </a:extLst>
          </p:cNvPr>
          <p:cNvSpPr txBox="1"/>
          <p:nvPr/>
        </p:nvSpPr>
        <p:spPr>
          <a:xfrm>
            <a:off x="548640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11A745-2223-EF37-45E7-E8A71FACF573}"/>
              </a:ext>
            </a:extLst>
          </p:cNvPr>
          <p:cNvSpPr txBox="1"/>
          <p:nvPr/>
        </p:nvSpPr>
        <p:spPr>
          <a:xfrm>
            <a:off x="548640" y="11658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Developing the OLAP Application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8148E7-3AFC-E3F6-5E08-C2F2647104CF}"/>
              </a:ext>
            </a:extLst>
          </p:cNvPr>
          <p:cNvSpPr/>
          <p:nvPr/>
        </p:nvSpPr>
        <p:spPr>
          <a:xfrm>
            <a:off x="548640" y="2003806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F572EE-126F-DD4C-4CFE-A312FF2B1853}"/>
              </a:ext>
            </a:extLst>
          </p:cNvPr>
          <p:cNvSpPr txBox="1"/>
          <p:nvPr/>
        </p:nvSpPr>
        <p:spPr>
          <a:xfrm>
            <a:off x="548640" y="200380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578DE4-9F8F-0535-82C3-064414F8F02A}"/>
              </a:ext>
            </a:extLst>
          </p:cNvPr>
          <p:cNvSpPr txBox="1"/>
          <p:nvPr/>
        </p:nvSpPr>
        <p:spPr>
          <a:xfrm>
            <a:off x="1234440" y="197637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dashboard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2C2C48F-7850-7820-2A68-D2C56E8B456F}"/>
              </a:ext>
            </a:extLst>
          </p:cNvPr>
          <p:cNvSpPr txBox="1"/>
          <p:nvPr/>
        </p:nvSpPr>
        <p:spPr>
          <a:xfrm>
            <a:off x="1234440" y="234213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 tools such as </a:t>
            </a:r>
            <a:r>
              <a:rPr lang="en-US" sz="1400" dirty="0" err="1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</a:t>
            </a: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Tableau, or D3 in developing your web dashboard containing visualization (charts) of your OLAP reports.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1D0F235-DD71-7A4D-EC40-45B962952379}"/>
              </a:ext>
            </a:extLst>
          </p:cNvPr>
          <p:cNvSpPr/>
          <p:nvPr/>
        </p:nvSpPr>
        <p:spPr>
          <a:xfrm>
            <a:off x="548640" y="3127248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815B46E-959F-A925-B5F1-1E4E8AFC44EE}"/>
              </a:ext>
            </a:extLst>
          </p:cNvPr>
          <p:cNvSpPr txBox="1"/>
          <p:nvPr/>
        </p:nvSpPr>
        <p:spPr>
          <a:xfrm>
            <a:off x="5486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E85E02F-11BA-BBC2-01BB-661A71B668AE}"/>
              </a:ext>
            </a:extLst>
          </p:cNvPr>
          <p:cNvSpPr txBox="1"/>
          <p:nvPr/>
        </p:nvSpPr>
        <p:spPr>
          <a:xfrm>
            <a:off x="1234440" y="3099816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</a:rPr>
              <a:t>Formulate OLAP queries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7F1156A-28D3-E11D-F467-A4F4C2261053}"/>
              </a:ext>
            </a:extLst>
          </p:cNvPr>
          <p:cNvSpPr txBox="1"/>
          <p:nvPr/>
        </p:nvSpPr>
        <p:spPr>
          <a:xfrm>
            <a:off x="1234440" y="3465576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parameterized OLAP queries, applying drill-down, roll-up, slice, dice, and pivot operations based on set filters and dimensional hierarchy. 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9E3426A-267D-A329-81DF-AED98C9616FF}"/>
              </a:ext>
            </a:extLst>
          </p:cNvPr>
          <p:cNvSpPr/>
          <p:nvPr/>
        </p:nvSpPr>
        <p:spPr>
          <a:xfrm>
            <a:off x="548640" y="428066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609D397-1D0E-43FE-8C82-9B072FB7B718}"/>
              </a:ext>
            </a:extLst>
          </p:cNvPr>
          <p:cNvSpPr txBox="1"/>
          <p:nvPr/>
        </p:nvSpPr>
        <p:spPr>
          <a:xfrm>
            <a:off x="548640" y="42806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AF3178C-2501-88D0-F31F-149AE8F90B87}"/>
              </a:ext>
            </a:extLst>
          </p:cNvPr>
          <p:cNvSpPr txBox="1"/>
          <p:nvPr/>
        </p:nvSpPr>
        <p:spPr>
          <a:xfrm>
            <a:off x="1234440" y="4253230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the test script</a:t>
            </a:r>
            <a:endParaRPr lang="en-US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F5F9D1C-86E9-0808-ACC2-DFD3B4E7B415}"/>
              </a:ext>
            </a:extLst>
          </p:cNvPr>
          <p:cNvSpPr txBox="1"/>
          <p:nvPr/>
        </p:nvSpPr>
        <p:spPr>
          <a:xfrm>
            <a:off x="1234440" y="4618990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test scripts to validate the correctness of your dashboard and queries. Test scripts should support efficient and effective testing methods.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F5B99D9-C971-2166-97FD-18D6A59624F7}"/>
              </a:ext>
            </a:extLst>
          </p:cNvPr>
          <p:cNvSpPr/>
          <p:nvPr/>
        </p:nvSpPr>
        <p:spPr>
          <a:xfrm>
            <a:off x="548640" y="5434076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BDDA8DE-AFB7-2050-71F3-63B2CEE29F8E}"/>
              </a:ext>
            </a:extLst>
          </p:cNvPr>
          <p:cNvSpPr txBox="1"/>
          <p:nvPr/>
        </p:nvSpPr>
        <p:spPr>
          <a:xfrm>
            <a:off x="548640" y="5434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B023801-796B-336E-629C-E9C02C1A6C27}"/>
              </a:ext>
            </a:extLst>
          </p:cNvPr>
          <p:cNvSpPr txBox="1"/>
          <p:nvPr/>
        </p:nvSpPr>
        <p:spPr>
          <a:xfrm>
            <a:off x="1234440" y="540664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 functional testing</a:t>
            </a:r>
            <a:endParaRPr lang="en-US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16664ED-A119-8223-C4B6-8D65D7A145D8}"/>
              </a:ext>
            </a:extLst>
          </p:cNvPr>
          <p:cNvSpPr txBox="1"/>
          <p:nvPr/>
        </p:nvSpPr>
        <p:spPr>
          <a:xfrm>
            <a:off x="1234439" y="5772404"/>
            <a:ext cx="628078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cs typeface="Calibri" pitchFamily="34" charset="-120"/>
              </a:rPr>
              <a:t>Run each query multiple times on different parameter values to check their correctness. Document the results – PASS and FAIL – and the reasons behind these.</a:t>
            </a:r>
            <a:endParaRPr lang="en-US" sz="14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AFB40B83-B039-D3B5-76FF-058D480C1010}"/>
              </a:ext>
            </a:extLst>
          </p:cNvPr>
          <p:cNvSpPr txBox="1"/>
          <p:nvPr/>
        </p:nvSpPr>
        <p:spPr>
          <a:xfrm>
            <a:off x="7815519" y="1670358"/>
            <a:ext cx="1145309" cy="33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6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14417E9B-B656-41AC-8407-E5E7957B77A5}"/>
              </a:ext>
            </a:extLst>
          </p:cNvPr>
          <p:cNvSpPr txBox="1"/>
          <p:nvPr/>
        </p:nvSpPr>
        <p:spPr>
          <a:xfrm>
            <a:off x="8960828" y="1671519"/>
            <a:ext cx="1098964" cy="32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6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149C8480-301F-33A4-36F8-F2883CCE9316}"/>
              </a:ext>
            </a:extLst>
          </p:cNvPr>
          <p:cNvSpPr txBox="1"/>
          <p:nvPr/>
        </p:nvSpPr>
        <p:spPr>
          <a:xfrm>
            <a:off x="10039531" y="1658715"/>
            <a:ext cx="1165570" cy="33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C6489537-45F6-A1FD-DB12-3C92F4C18F22}"/>
              </a:ext>
            </a:extLst>
          </p:cNvPr>
          <p:cNvSpPr/>
          <p:nvPr/>
        </p:nvSpPr>
        <p:spPr>
          <a:xfrm>
            <a:off x="7841605" y="242137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F24483BD-8780-C2FC-D3DA-2856974AE3D3}"/>
              </a:ext>
            </a:extLst>
          </p:cNvPr>
          <p:cNvSpPr/>
          <p:nvPr/>
        </p:nvSpPr>
        <p:spPr>
          <a:xfrm>
            <a:off x="8940568" y="242210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BE290354-1D49-3635-7C38-3D161B631731}"/>
              </a:ext>
            </a:extLst>
          </p:cNvPr>
          <p:cNvSpPr/>
          <p:nvPr/>
        </p:nvSpPr>
        <p:spPr>
          <a:xfrm>
            <a:off x="10039531" y="240277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E661E8DD-CAEA-A9EF-67A4-1752FDC1FEB6}"/>
              </a:ext>
            </a:extLst>
          </p:cNvPr>
          <p:cNvSpPr/>
          <p:nvPr/>
        </p:nvSpPr>
        <p:spPr>
          <a:xfrm>
            <a:off x="9340419" y="2368277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C7507956-7EA4-A381-E375-CF3222BAFF76}"/>
              </a:ext>
            </a:extLst>
          </p:cNvPr>
          <p:cNvSpPr/>
          <p:nvPr/>
        </p:nvSpPr>
        <p:spPr>
          <a:xfrm>
            <a:off x="7815519" y="3555902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DC1B7D8E-876D-DAE5-F2DC-5569D1643885}"/>
              </a:ext>
            </a:extLst>
          </p:cNvPr>
          <p:cNvSpPr/>
          <p:nvPr/>
        </p:nvSpPr>
        <p:spPr>
          <a:xfrm>
            <a:off x="8914482" y="3556629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AD4C23B4-CF66-5ABC-67A9-41CDE89944A4}"/>
              </a:ext>
            </a:extLst>
          </p:cNvPr>
          <p:cNvSpPr/>
          <p:nvPr/>
        </p:nvSpPr>
        <p:spPr>
          <a:xfrm>
            <a:off x="10013445" y="3537302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3B03CD52-3487-D9C9-01D3-76537B9A72AB}"/>
              </a:ext>
            </a:extLst>
          </p:cNvPr>
          <p:cNvSpPr/>
          <p:nvPr/>
        </p:nvSpPr>
        <p:spPr>
          <a:xfrm>
            <a:off x="8210681" y="3469388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6A7C3555-7D4B-8C8C-FDBF-FFF9ED9E809C}"/>
              </a:ext>
            </a:extLst>
          </p:cNvPr>
          <p:cNvSpPr/>
          <p:nvPr/>
        </p:nvSpPr>
        <p:spPr>
          <a:xfrm>
            <a:off x="7815519" y="465682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BCEDD744-A088-F79A-6086-5BA11544B7AA}"/>
              </a:ext>
            </a:extLst>
          </p:cNvPr>
          <p:cNvSpPr/>
          <p:nvPr/>
        </p:nvSpPr>
        <p:spPr>
          <a:xfrm>
            <a:off x="8914482" y="465755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5C1D05B1-4689-F287-9072-3944D2C9262A}"/>
              </a:ext>
            </a:extLst>
          </p:cNvPr>
          <p:cNvSpPr/>
          <p:nvPr/>
        </p:nvSpPr>
        <p:spPr>
          <a:xfrm>
            <a:off x="10013445" y="463822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DE57552B-EB84-80E5-1FE5-28A97205A483}"/>
              </a:ext>
            </a:extLst>
          </p:cNvPr>
          <p:cNvSpPr/>
          <p:nvPr/>
        </p:nvSpPr>
        <p:spPr>
          <a:xfrm>
            <a:off x="9320157" y="4586969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7A837F91-34D9-4941-EDF1-5402F492C5AC}"/>
              </a:ext>
            </a:extLst>
          </p:cNvPr>
          <p:cNvSpPr/>
          <p:nvPr/>
        </p:nvSpPr>
        <p:spPr>
          <a:xfrm>
            <a:off x="7795256" y="5735828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F9961318-EB6D-8A60-2DCD-428AC4CBC59A}"/>
              </a:ext>
            </a:extLst>
          </p:cNvPr>
          <p:cNvSpPr/>
          <p:nvPr/>
        </p:nvSpPr>
        <p:spPr>
          <a:xfrm>
            <a:off x="8894219" y="5736555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5AA6496D-6F55-4EA5-51B5-14A13752F4EE}"/>
              </a:ext>
            </a:extLst>
          </p:cNvPr>
          <p:cNvSpPr/>
          <p:nvPr/>
        </p:nvSpPr>
        <p:spPr>
          <a:xfrm>
            <a:off x="9993182" y="5717228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14">
            <a:extLst>
              <a:ext uri="{FF2B5EF4-FFF2-40B4-BE49-F238E27FC236}">
                <a16:creationId xmlns:a16="http://schemas.microsoft.com/office/drawing/2014/main" id="{EF34DBF9-6EEE-59F2-4931-2EC6715AED33}"/>
              </a:ext>
            </a:extLst>
          </p:cNvPr>
          <p:cNvSpPr/>
          <p:nvPr/>
        </p:nvSpPr>
        <p:spPr>
          <a:xfrm>
            <a:off x="8213137" y="5656583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5A909-B4D4-BAB4-9BC2-AAF8900708C5}"/>
              </a:ext>
            </a:extLst>
          </p:cNvPr>
          <p:cNvSpPr txBox="1"/>
          <p:nvPr/>
        </p:nvSpPr>
        <p:spPr>
          <a:xfrm>
            <a:off x="6643939" y="410404"/>
            <a:ext cx="5205161" cy="7328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180000" tIns="180000" rIns="180000" bIns="180000" rtlCol="0" anchor="ctr" anchorCtr="1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AI Use: Allowed within set constraints</a:t>
            </a:r>
          </a:p>
        </p:txBody>
      </p:sp>
    </p:spTree>
    <p:extLst>
      <p:ext uri="{BB962C8B-B14F-4D97-AF65-F5344CB8AC3E}">
        <p14:creationId xmlns:p14="http://schemas.microsoft.com/office/powerpoint/2010/main" val="106813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B01E7-C4F9-C753-186C-985BA64A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495B89-926E-CDE7-6DEE-27BDE83068B1}"/>
              </a:ext>
            </a:extLst>
          </p:cNvPr>
          <p:cNvSpPr/>
          <p:nvPr/>
        </p:nvSpPr>
        <p:spPr>
          <a:xfrm>
            <a:off x="548640" y="457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356003-AE48-6841-E151-D40DBECCF151}"/>
              </a:ext>
            </a:extLst>
          </p:cNvPr>
          <p:cNvSpPr txBox="1"/>
          <p:nvPr/>
        </p:nvSpPr>
        <p:spPr>
          <a:xfrm>
            <a:off x="548640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C2DAE7-6F64-28C9-E814-E1C2AB59B7A0}"/>
              </a:ext>
            </a:extLst>
          </p:cNvPr>
          <p:cNvSpPr txBox="1"/>
          <p:nvPr/>
        </p:nvSpPr>
        <p:spPr>
          <a:xfrm>
            <a:off x="548640" y="11658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Query Optimization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32ABAB-1B67-3738-4A18-D6E2655BA890}"/>
              </a:ext>
            </a:extLst>
          </p:cNvPr>
          <p:cNvSpPr/>
          <p:nvPr/>
        </p:nvSpPr>
        <p:spPr>
          <a:xfrm>
            <a:off x="548640" y="2003806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F1C7904-FB12-977A-9589-A8A443004BD3}"/>
              </a:ext>
            </a:extLst>
          </p:cNvPr>
          <p:cNvSpPr txBox="1"/>
          <p:nvPr/>
        </p:nvSpPr>
        <p:spPr>
          <a:xfrm>
            <a:off x="548640" y="200380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D409A0-FF02-8FC0-E7F6-113212D5A296}"/>
              </a:ext>
            </a:extLst>
          </p:cNvPr>
          <p:cNvSpPr txBox="1"/>
          <p:nvPr/>
        </p:nvSpPr>
        <p:spPr>
          <a:xfrm>
            <a:off x="1234440" y="197637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performance bottlenecks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18A8D5F-FA97-CF15-4DE4-629D2CD913B8}"/>
              </a:ext>
            </a:extLst>
          </p:cNvPr>
          <p:cNvSpPr txBox="1"/>
          <p:nvPr/>
        </p:nvSpPr>
        <p:spPr>
          <a:xfrm>
            <a:off x="1234440" y="234213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query multiple times on different parameter values, database structure, and/or hardware setup. Identify the performance bottlenecks.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D1E6B1B-0A67-E782-594C-5A30A898F696}"/>
              </a:ext>
            </a:extLst>
          </p:cNvPr>
          <p:cNvSpPr/>
          <p:nvPr/>
        </p:nvSpPr>
        <p:spPr>
          <a:xfrm>
            <a:off x="548640" y="3127248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7AEE24-958E-084F-D440-123352C711BF}"/>
              </a:ext>
            </a:extLst>
          </p:cNvPr>
          <p:cNvSpPr txBox="1"/>
          <p:nvPr/>
        </p:nvSpPr>
        <p:spPr>
          <a:xfrm>
            <a:off x="5486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9E10C4-14DB-3034-02D3-82C35A896014}"/>
              </a:ext>
            </a:extLst>
          </p:cNvPr>
          <p:cNvSpPr txBox="1"/>
          <p:nvPr/>
        </p:nvSpPr>
        <p:spPr>
          <a:xfrm>
            <a:off x="1234440" y="3099816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optimization strategies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D66140F-8DB7-01FD-1929-41FA42DA0782}"/>
              </a:ext>
            </a:extLst>
          </p:cNvPr>
          <p:cNvSpPr txBox="1"/>
          <p:nvPr/>
        </p:nvSpPr>
        <p:spPr>
          <a:xfrm>
            <a:off x="1234440" y="3465576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optimization strategies and evaluate the impact on query processing speed</a:t>
            </a:r>
            <a:r>
              <a:rPr lang="en-US" sz="1400" dirty="0">
                <a:solidFill>
                  <a:srgbClr val="3F726B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0CBC3BB-17A2-35C0-127A-ADD6B9DF7FAF}"/>
              </a:ext>
            </a:extLst>
          </p:cNvPr>
          <p:cNvSpPr/>
          <p:nvPr/>
        </p:nvSpPr>
        <p:spPr>
          <a:xfrm>
            <a:off x="548640" y="428066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D92099F-E90E-D438-7AFA-648964EBB4D0}"/>
              </a:ext>
            </a:extLst>
          </p:cNvPr>
          <p:cNvSpPr txBox="1"/>
          <p:nvPr/>
        </p:nvSpPr>
        <p:spPr>
          <a:xfrm>
            <a:off x="548640" y="42806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879448D-C0A0-F8A6-6AF6-612D921282BC}"/>
              </a:ext>
            </a:extLst>
          </p:cNvPr>
          <p:cNvSpPr txBox="1"/>
          <p:nvPr/>
        </p:nvSpPr>
        <p:spPr>
          <a:xfrm>
            <a:off x="1234440" y="4253230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query performance</a:t>
            </a:r>
            <a:endParaRPr lang="en-US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B98331B-C604-8741-8776-4C1B3C673286}"/>
              </a:ext>
            </a:extLst>
          </p:cNvPr>
          <p:cNvSpPr txBox="1"/>
          <p:nvPr/>
        </p:nvSpPr>
        <p:spPr>
          <a:xfrm>
            <a:off x="1234440" y="4618990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execution times of the queries before and after applying optimization strategies.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DF417C5-F770-F06C-B9D2-A447D8040132}"/>
              </a:ext>
            </a:extLst>
          </p:cNvPr>
          <p:cNvSpPr/>
          <p:nvPr/>
        </p:nvSpPr>
        <p:spPr>
          <a:xfrm>
            <a:off x="548640" y="5434076"/>
            <a:ext cx="502920" cy="502920"/>
          </a:xfrm>
          <a:prstGeom prst="ellipse">
            <a:avLst/>
          </a:prstGeom>
          <a:solidFill>
            <a:srgbClr val="BFE8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16E9F21-0192-B795-59BB-661B801E0B1B}"/>
              </a:ext>
            </a:extLst>
          </p:cNvPr>
          <p:cNvSpPr txBox="1"/>
          <p:nvPr/>
        </p:nvSpPr>
        <p:spPr>
          <a:xfrm>
            <a:off x="548640" y="5434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C489FD0-9283-A749-D187-9F734445723E}"/>
              </a:ext>
            </a:extLst>
          </p:cNvPr>
          <p:cNvSpPr txBox="1"/>
          <p:nvPr/>
        </p:nvSpPr>
        <p:spPr>
          <a:xfrm>
            <a:off x="1234440" y="5406644"/>
            <a:ext cx="5921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your results</a:t>
            </a:r>
            <a:endParaRPr lang="en-US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D965ADA-9C63-F6CC-0F3C-7F9DF4B09ACD}"/>
              </a:ext>
            </a:extLst>
          </p:cNvPr>
          <p:cNvSpPr txBox="1"/>
          <p:nvPr/>
        </p:nvSpPr>
        <p:spPr>
          <a:xfrm>
            <a:off x="1234440" y="5772404"/>
            <a:ext cx="59210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for the improvement or non-improvement in performance.</a:t>
            </a:r>
            <a:endParaRPr 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94D332-176E-EB0F-EA32-1DB2CE5AC02A}"/>
              </a:ext>
            </a:extLst>
          </p:cNvPr>
          <p:cNvSpPr txBox="1"/>
          <p:nvPr/>
        </p:nvSpPr>
        <p:spPr>
          <a:xfrm>
            <a:off x="9133139" y="640080"/>
            <a:ext cx="2388301" cy="73284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 lIns="180000" tIns="180000" rIns="180000" bIns="180000" rtlCol="0" anchor="ctr" anchorCtr="1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AI Use: BANNED</a:t>
            </a: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B389FF1F-6963-BEFF-2A80-0CFA31B4C22E}"/>
              </a:ext>
            </a:extLst>
          </p:cNvPr>
          <p:cNvSpPr txBox="1"/>
          <p:nvPr/>
        </p:nvSpPr>
        <p:spPr>
          <a:xfrm>
            <a:off x="7815519" y="1670358"/>
            <a:ext cx="1145309" cy="337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6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4E187C75-64E4-ED28-3F83-B8BD2A38CC46}"/>
              </a:ext>
            </a:extLst>
          </p:cNvPr>
          <p:cNvSpPr txBox="1"/>
          <p:nvPr/>
        </p:nvSpPr>
        <p:spPr>
          <a:xfrm>
            <a:off x="8960828" y="1671519"/>
            <a:ext cx="1098964" cy="32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6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37420AC3-DF0C-1768-4A11-03C467C5D898}"/>
              </a:ext>
            </a:extLst>
          </p:cNvPr>
          <p:cNvSpPr txBox="1"/>
          <p:nvPr/>
        </p:nvSpPr>
        <p:spPr>
          <a:xfrm>
            <a:off x="10039531" y="1658715"/>
            <a:ext cx="1165570" cy="33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F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67108D3B-5FC1-CB16-7483-3396642E511A}"/>
              </a:ext>
            </a:extLst>
          </p:cNvPr>
          <p:cNvSpPr/>
          <p:nvPr/>
        </p:nvSpPr>
        <p:spPr>
          <a:xfrm>
            <a:off x="7841605" y="242137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6EF82936-5F4D-0DE0-61CA-A5143B72AFEA}"/>
              </a:ext>
            </a:extLst>
          </p:cNvPr>
          <p:cNvSpPr/>
          <p:nvPr/>
        </p:nvSpPr>
        <p:spPr>
          <a:xfrm>
            <a:off x="8940568" y="242210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50636955-8006-4BCB-0E65-474EE40014FE}"/>
              </a:ext>
            </a:extLst>
          </p:cNvPr>
          <p:cNvSpPr/>
          <p:nvPr/>
        </p:nvSpPr>
        <p:spPr>
          <a:xfrm>
            <a:off x="10039531" y="240277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0C19C596-F3A3-75BD-3769-75ED77235FBE}"/>
              </a:ext>
            </a:extLst>
          </p:cNvPr>
          <p:cNvSpPr/>
          <p:nvPr/>
        </p:nvSpPr>
        <p:spPr>
          <a:xfrm>
            <a:off x="8259486" y="2342134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5901F7D8-84B5-9D2F-4724-26213874E3DC}"/>
              </a:ext>
            </a:extLst>
          </p:cNvPr>
          <p:cNvSpPr/>
          <p:nvPr/>
        </p:nvSpPr>
        <p:spPr>
          <a:xfrm>
            <a:off x="7815519" y="3555902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2920A35A-4E66-C5FC-AEE1-1B79B793746E}"/>
              </a:ext>
            </a:extLst>
          </p:cNvPr>
          <p:cNvSpPr/>
          <p:nvPr/>
        </p:nvSpPr>
        <p:spPr>
          <a:xfrm>
            <a:off x="8914482" y="3556629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5DF51F79-201B-1168-2131-880021276484}"/>
              </a:ext>
            </a:extLst>
          </p:cNvPr>
          <p:cNvSpPr/>
          <p:nvPr/>
        </p:nvSpPr>
        <p:spPr>
          <a:xfrm>
            <a:off x="10013445" y="3537302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C22B2BD6-37B5-DB57-A156-A7FA43DBEEC1}"/>
              </a:ext>
            </a:extLst>
          </p:cNvPr>
          <p:cNvSpPr/>
          <p:nvPr/>
        </p:nvSpPr>
        <p:spPr>
          <a:xfrm>
            <a:off x="8233400" y="3476657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8A4AF574-63A8-79E7-C384-548751DC10ED}"/>
              </a:ext>
            </a:extLst>
          </p:cNvPr>
          <p:cNvSpPr/>
          <p:nvPr/>
        </p:nvSpPr>
        <p:spPr>
          <a:xfrm>
            <a:off x="7815519" y="4656829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28565D7E-C45D-341B-134F-3AC12FE5238D}"/>
              </a:ext>
            </a:extLst>
          </p:cNvPr>
          <p:cNvSpPr/>
          <p:nvPr/>
        </p:nvSpPr>
        <p:spPr>
          <a:xfrm>
            <a:off x="8914482" y="4657556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32F3D29F-436E-774F-E019-DD77C2ED6865}"/>
              </a:ext>
            </a:extLst>
          </p:cNvPr>
          <p:cNvSpPr/>
          <p:nvPr/>
        </p:nvSpPr>
        <p:spPr>
          <a:xfrm>
            <a:off x="10013445" y="4638229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3C6BACB4-48C4-82F8-4C42-653AE64D04FB}"/>
              </a:ext>
            </a:extLst>
          </p:cNvPr>
          <p:cNvSpPr/>
          <p:nvPr/>
        </p:nvSpPr>
        <p:spPr>
          <a:xfrm>
            <a:off x="8233400" y="4577584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E70141F8-1C26-117C-6A0E-601444FE7B77}"/>
              </a:ext>
            </a:extLst>
          </p:cNvPr>
          <p:cNvSpPr/>
          <p:nvPr/>
        </p:nvSpPr>
        <p:spPr>
          <a:xfrm>
            <a:off x="7795256" y="5735828"/>
            <a:ext cx="1119226" cy="201168"/>
          </a:xfrm>
          <a:prstGeom prst="roundRect">
            <a:avLst>
              <a:gd name="adj" fmla="val 15385"/>
            </a:avLst>
          </a:prstGeom>
          <a:solidFill>
            <a:srgbClr val="0B4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678505C2-531D-58D8-630C-76AE9D26B102}"/>
              </a:ext>
            </a:extLst>
          </p:cNvPr>
          <p:cNvSpPr/>
          <p:nvPr/>
        </p:nvSpPr>
        <p:spPr>
          <a:xfrm>
            <a:off x="8894219" y="5736555"/>
            <a:ext cx="1119226" cy="199713"/>
          </a:xfrm>
          <a:prstGeom prst="roundRect">
            <a:avLst>
              <a:gd name="adj" fmla="val 15385"/>
            </a:avLst>
          </a:prstGeom>
          <a:solidFill>
            <a:srgbClr val="3FA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91545258-9318-3C19-C212-D9FDADB0F868}"/>
              </a:ext>
            </a:extLst>
          </p:cNvPr>
          <p:cNvSpPr/>
          <p:nvPr/>
        </p:nvSpPr>
        <p:spPr>
          <a:xfrm>
            <a:off x="9993182" y="5717228"/>
            <a:ext cx="1119226" cy="219040"/>
          </a:xfrm>
          <a:prstGeom prst="roundRect">
            <a:avLst>
              <a:gd name="adj" fmla="val 15385"/>
            </a:avLst>
          </a:prstGeom>
          <a:solidFill>
            <a:srgbClr val="BFE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14">
            <a:extLst>
              <a:ext uri="{FF2B5EF4-FFF2-40B4-BE49-F238E27FC236}">
                <a16:creationId xmlns:a16="http://schemas.microsoft.com/office/drawing/2014/main" id="{DCE5A7C7-6772-43D7-A1A6-24958225BB9C}"/>
              </a:ext>
            </a:extLst>
          </p:cNvPr>
          <p:cNvSpPr/>
          <p:nvPr/>
        </p:nvSpPr>
        <p:spPr>
          <a:xfrm>
            <a:off x="8213137" y="5656583"/>
            <a:ext cx="287614" cy="32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2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2AFD-7862-A16D-E426-5105A7A4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MCO1 Specific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D94F-420D-0DEF-08C5-C5DEBB6F5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sz="2400" b="1" dirty="0"/>
              <a:t>Do’s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>
                <a:solidFill>
                  <a:srgbClr val="0070C0"/>
                </a:solidFill>
              </a:rPr>
              <a:t>Properly designed Data Warehouse</a:t>
            </a:r>
            <a:r>
              <a:rPr lang="en-US" sz="2400" dirty="0"/>
              <a:t> to generate analytical reports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Choose </a:t>
            </a:r>
            <a:r>
              <a:rPr lang="en-US" sz="2400" dirty="0">
                <a:solidFill>
                  <a:srgbClr val="B02C99"/>
                </a:solidFill>
              </a:rPr>
              <a:t>appropriate charts </a:t>
            </a:r>
            <a:r>
              <a:rPr lang="en-US" sz="2400" dirty="0"/>
              <a:t>to display meaningful reports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Formulate relevant </a:t>
            </a:r>
            <a:r>
              <a:rPr lang="en-US" sz="2400" dirty="0">
                <a:solidFill>
                  <a:srgbClr val="0070C0"/>
                </a:solidFill>
              </a:rPr>
              <a:t>queries that highlight advanced SQL and OLAP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Apply </a:t>
            </a:r>
            <a:r>
              <a:rPr lang="en-US" sz="2400" dirty="0">
                <a:solidFill>
                  <a:srgbClr val="B02C99"/>
                </a:solidFill>
              </a:rPr>
              <a:t>optimization strategies </a:t>
            </a:r>
            <a:r>
              <a:rPr lang="en-US" sz="2400" dirty="0"/>
              <a:t>to improve query performance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US" sz="2400" dirty="0"/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sz="2400" b="1" dirty="0"/>
              <a:t>Don’ts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Randomly design meaningless reports and graphic charts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Rely on 3</a:t>
            </a:r>
            <a:r>
              <a:rPr lang="en-US" sz="2400" baseline="30000" dirty="0"/>
              <a:t>rd</a:t>
            </a:r>
            <a:r>
              <a:rPr lang="en-US" sz="2400" dirty="0"/>
              <a:t> party tools for query optimization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319616-36CE-E4EB-0A0D-C1C99C048E77}"/>
              </a:ext>
            </a:extLst>
          </p:cNvPr>
          <p:cNvSpPr/>
          <p:nvPr/>
        </p:nvSpPr>
        <p:spPr>
          <a:xfrm>
            <a:off x="838200" y="1498294"/>
            <a:ext cx="925417" cy="7711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00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2AFD-7862-A16D-E426-5105A7A4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MCO1 Technical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D94F-420D-0DEF-08C5-C5DEBB6F5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Follow the prescribed template and page limit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Contents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Introduction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Data Warehouse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ETL Pipeline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OLAP Application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Query Processing and Optimization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Results and Analysis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Conclusion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US" sz="2000" dirty="0"/>
              <a:t>References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sz="2400" dirty="0"/>
              <a:t>Declarations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319616-36CE-E4EB-0A0D-C1C99C048E77}"/>
              </a:ext>
            </a:extLst>
          </p:cNvPr>
          <p:cNvSpPr/>
          <p:nvPr/>
        </p:nvSpPr>
        <p:spPr>
          <a:xfrm>
            <a:off x="838200" y="1498294"/>
            <a:ext cx="925417" cy="7711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31EF8-5980-5750-5428-44826E2A71DA}"/>
              </a:ext>
            </a:extLst>
          </p:cNvPr>
          <p:cNvSpPr txBox="1"/>
          <p:nvPr/>
        </p:nvSpPr>
        <p:spPr>
          <a:xfrm>
            <a:off x="5661285" y="3086168"/>
            <a:ext cx="6183612" cy="213872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270000" tIns="270000" rIns="270000" bIns="270000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i="1" dirty="0">
                <a:latin typeface="Cambria" panose="02040503050406030204" pitchFamily="18" charset="0"/>
              </a:rPr>
              <a:t>Focus on explaining your design decisions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i="1" dirty="0">
                <a:latin typeface="Cambria" panose="02040503050406030204" pitchFamily="18" charset="0"/>
              </a:rPr>
              <a:t>Supported by citing related work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i="1" dirty="0">
                <a:latin typeface="Cambria" panose="02040503050406030204" pitchFamily="18" charset="0"/>
              </a:rPr>
              <a:t>Illustrated by concrete examples</a:t>
            </a:r>
          </a:p>
        </p:txBody>
      </p:sp>
    </p:spTree>
    <p:extLst>
      <p:ext uri="{BB962C8B-B14F-4D97-AF65-F5344CB8AC3E}">
        <p14:creationId xmlns:p14="http://schemas.microsoft.com/office/powerpoint/2010/main" val="307292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0DFC-DF82-E0E4-FF5A-CD4099CD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92C7-9E90-1906-5CE9-7BF7F40E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MCO1 General AI Usage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31C09-C8C8-D2B0-49EF-7CDEC69FA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PH" sz="2400" dirty="0"/>
              <a:t>GenAI can be used in the following contexts: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PH" sz="2400" dirty="0"/>
              <a:t>To help increase your understanding of key concepts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PH" sz="2400" dirty="0"/>
              <a:t>To critic your work, but not to replace your judgment, reasoning, and critical thinking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PH" sz="2400" dirty="0"/>
              <a:t>As a sounding board to challenge your interpretation</a:t>
            </a:r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PH" sz="2400" dirty="0"/>
              <a:t>To improve the writing -- word choices, grammar -- of the technical report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PH" dirty="0"/>
              <a:t>Make sure you verify AI-suggested modifications to your work</a:t>
            </a:r>
          </a:p>
          <a:p>
            <a:pPr marL="0" lvl="0" indent="0">
              <a:lnSpc>
                <a:spcPct val="114000"/>
              </a:lnSpc>
              <a:spcBef>
                <a:spcPts val="1200"/>
              </a:spcBef>
              <a:buNone/>
            </a:pPr>
            <a:endParaRPr lang="en-PH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5CEBB3-9625-DBA0-0E3C-84D683AAF860}"/>
              </a:ext>
            </a:extLst>
          </p:cNvPr>
          <p:cNvSpPr/>
          <p:nvPr/>
        </p:nvSpPr>
        <p:spPr>
          <a:xfrm>
            <a:off x="838200" y="1498294"/>
            <a:ext cx="925417" cy="7711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2E455-388C-B608-758F-DAD0643F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A73D-5ECE-9D3A-B1F7-3620FA88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MCO1 Specific AI Usage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A1AD-9788-6992-775E-E3369785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lvl="0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Design your own dimensional model. You can use AI to reason on the pros and cons of alternative designs.</a:t>
            </a:r>
          </a:p>
          <a:p>
            <a:pPr lvl="0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Formulate your own OLAP queries. Do not use AI to generate the queries for you, but to reason on the relevance of these queries.</a:t>
            </a:r>
          </a:p>
          <a:p>
            <a:pPr lvl="0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Ask GenAI to help you understand the EXPLAIN output, but not to optimize your queries.</a:t>
            </a:r>
          </a:p>
          <a:p>
            <a:pPr lvl="0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GenAI can help in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Formulating the ETL script and if necessary, generating synthetic data for the source database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Building the web-based dashboard interface, but not the underlying queries</a:t>
            </a:r>
          </a:p>
          <a:p>
            <a:pPr lvl="1">
              <a:lnSpc>
                <a:spcPct val="114000"/>
              </a:lnSpc>
              <a:spcBef>
                <a:spcPts val="600"/>
              </a:spcBef>
            </a:pPr>
            <a:r>
              <a:rPr lang="en-PH" sz="2200" dirty="0"/>
              <a:t>Writing the test script for functional testing</a:t>
            </a:r>
          </a:p>
          <a:p>
            <a:pPr lvl="0">
              <a:lnSpc>
                <a:spcPct val="114000"/>
              </a:lnSpc>
              <a:spcBef>
                <a:spcPts val="600"/>
              </a:spcBef>
            </a:pPr>
            <a:endParaRPr lang="en-PH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DA797-47B9-64B9-5A3D-D6594DDB56E6}"/>
              </a:ext>
            </a:extLst>
          </p:cNvPr>
          <p:cNvSpPr/>
          <p:nvPr/>
        </p:nvSpPr>
        <p:spPr>
          <a:xfrm>
            <a:off x="838200" y="1498294"/>
            <a:ext cx="925417" cy="7711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1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800</Words>
  <Application>Microsoft Macintosh PowerPoint</Application>
  <PresentationFormat>Widescreen</PresentationFormat>
  <Paragraphs>135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Courier New</vt:lpstr>
      <vt:lpstr>Office Theme</vt:lpstr>
      <vt:lpstr>Query Processing in Data Warehouse  MCO1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MCO1 Specific Requirements</vt:lpstr>
      <vt:lpstr>MCO1 Technical Reports</vt:lpstr>
      <vt:lpstr>MCO1 General AI Usage Guidelines</vt:lpstr>
      <vt:lpstr>MCO1 Specific AI Usage Guidelines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Wrangling and Visualization</dc:title>
  <dc:creator>Ethel  C. Ong</dc:creator>
  <cp:lastModifiedBy>Ethel  C. Ong</cp:lastModifiedBy>
  <cp:revision>17</cp:revision>
  <dcterms:created xsi:type="dcterms:W3CDTF">2023-01-30T04:15:25Z</dcterms:created>
  <dcterms:modified xsi:type="dcterms:W3CDTF">2026-10-05T04:11:13Z</dcterms:modified>
</cp:coreProperties>
</file>